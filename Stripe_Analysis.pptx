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36"/>
  </p:notesMasterIdLst>
  <p:sldIdLst>
    <p:sldId id="257" r:id="rId5"/>
    <p:sldId id="358" r:id="rId6"/>
    <p:sldId id="344" r:id="rId7"/>
    <p:sldId id="388" r:id="rId8"/>
    <p:sldId id="390" r:id="rId9"/>
    <p:sldId id="397" r:id="rId10"/>
    <p:sldId id="398" r:id="rId11"/>
    <p:sldId id="400" r:id="rId12"/>
    <p:sldId id="399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396" r:id="rId22"/>
    <p:sldId id="389" r:id="rId23"/>
    <p:sldId id="409" r:id="rId24"/>
    <p:sldId id="394" r:id="rId25"/>
    <p:sldId id="395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072C7"/>
    <a:srgbClr val="0D1D51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1" autoAdjust="0"/>
    <p:restoredTop sz="91924" autoAdjust="0"/>
  </p:normalViewPr>
  <p:slideViewPr>
    <p:cSldViewPr snapToGrid="0" showGuides="1">
      <p:cViewPr varScale="1">
        <p:scale>
          <a:sx n="113" d="100"/>
          <a:sy n="113" d="100"/>
        </p:scale>
        <p:origin x="102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IN" smtClean="0"/>
              <a:t>01/02/26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1D81B-532E-1C22-8F1E-51262F48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C73DC-12BA-75A0-0D82-F5CA4AA74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01C99-AFD8-FEA4-6699-DBBF96AAF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D528C-FDB1-9F4A-4993-35F0ACE43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47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8545-A6C2-A2B0-DFE8-588DDDBE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5EC59-8FB1-CE10-AE54-5D3B99FE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85D15-2ABB-BAB0-674A-F55EE1B48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7D8A-3478-79DD-7E68-5B1D1A6E2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616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Title comes here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comes here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Executive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email</a:t>
            </a:r>
            <a:endParaRPr lang="en-IN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dirty="0"/>
              <a:t>Website </a:t>
            </a:r>
            <a:r>
              <a:rPr lang="en-US" dirty="0" err="1"/>
              <a:t>url</a:t>
            </a:r>
            <a:r>
              <a:rPr lang="en-US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email</a:t>
            </a:r>
            <a:endParaRPr lang="en-IN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Website </a:t>
            </a:r>
            <a:r>
              <a:rPr lang="en-US" dirty="0" err="1"/>
              <a:t>url</a:t>
            </a:r>
            <a:r>
              <a:rPr lang="en-US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comes here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</p:grp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1F27F-98F9-A147-8986-34441C7B752D}" type="datetime1">
              <a:rPr lang="en-IN" smtClean="0"/>
              <a:t>01/02/26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2173288"/>
            <a:ext cx="5143500" cy="2090808"/>
          </a:xfrm>
        </p:spPr>
        <p:txBody>
          <a:bodyPr anchor="b">
            <a:normAutofit fontScale="90000"/>
          </a:bodyPr>
          <a:lstStyle/>
          <a:p>
            <a:br>
              <a:rPr lang="en-IN" sz="2600" dirty="0"/>
            </a:br>
            <a:r>
              <a:rPr lang="en-IN" sz="2600" dirty="0"/>
              <a:t> </a:t>
            </a:r>
            <a:br>
              <a:rPr lang="en-IN" sz="2600" dirty="0"/>
            </a:br>
            <a:r>
              <a:rPr lang="en-CA" sz="2800" dirty="0"/>
              <a:t>Subscription Product Adoption: Strategic Merchant Targeting</a:t>
            </a:r>
            <a:br>
              <a:rPr lang="en-IN" sz="2600" dirty="0"/>
            </a:b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rmAutofit/>
          </a:bodyPr>
          <a:lstStyle/>
          <a:p>
            <a:r>
              <a:rPr lang="en-IN" dirty="0"/>
              <a:t>Kushraj Bhatia</a:t>
            </a:r>
          </a:p>
        </p:txBody>
      </p:sp>
      <p:pic>
        <p:nvPicPr>
          <p:cNvPr id="12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27714DBB-6FD0-E7CE-B9F6-06A8C8AA7E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875" r="21876" b="1"/>
          <a:stretch>
            <a:fillRect/>
          </a:stretch>
        </p:blipFill>
        <p:spPr>
          <a:xfrm>
            <a:off x="710812" y="728545"/>
            <a:ext cx="5305661" cy="5305661"/>
          </a:xfrm>
          <a:noFill/>
        </p:spPr>
      </p:pic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F9ADA4-91D3-4774-98B1-952F12A9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11191078" cy="4351338"/>
          </a:xfrm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Business Objective &amp; Approach</a:t>
            </a:r>
          </a:p>
          <a:p>
            <a:r>
              <a:rPr lang="en-CA" dirty="0">
                <a:solidFill>
                  <a:srgbClr val="2C567A"/>
                </a:solidFill>
              </a:rPr>
              <a:t>Data Quality &amp; Assumptions</a:t>
            </a:r>
          </a:p>
          <a:p>
            <a:r>
              <a:rPr lang="en-CA" dirty="0">
                <a:solidFill>
                  <a:srgbClr val="2C567A"/>
                </a:solidFill>
              </a:rPr>
              <a:t>Understanding Subscription Winners (Who succeeds with subscription today?)</a:t>
            </a:r>
          </a:p>
          <a:p>
            <a:r>
              <a:rPr lang="en-CA" dirty="0">
                <a:solidFill>
                  <a:srgbClr val="2C567A"/>
                </a:solidFill>
              </a:rPr>
              <a:t>Identifying target Merchants (Who should adopt subscriptions?)</a:t>
            </a:r>
          </a:p>
          <a:p>
            <a:r>
              <a:rPr lang="en-CA" dirty="0">
                <a:solidFill>
                  <a:srgbClr val="2C567A"/>
                </a:solidFill>
              </a:rPr>
              <a:t>Scoring &amp; Prioritizing Framework</a:t>
            </a:r>
          </a:p>
          <a:p>
            <a:r>
              <a:rPr lang="en-CA" dirty="0">
                <a:solidFill>
                  <a:srgbClr val="2C567A"/>
                </a:solidFill>
              </a:rPr>
              <a:t>Final Recommendations &amp; Next Steps</a:t>
            </a:r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01EC6-4D7C-44B9-A184-0F17D75473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91E5ED-1603-488D-82A3-E1FAA7A6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AGENDA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DC6745E7-BB75-5CCB-BA1B-E6456B8E39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C4B79346-75DE-B93A-2D4F-6866CE08C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6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F9ADA4-91D3-4774-98B1-952F12A9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22" y="1727200"/>
            <a:ext cx="11549416" cy="444976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>
                <a:solidFill>
                  <a:srgbClr val="2C567A"/>
                </a:solidFill>
              </a:rPr>
              <a:t>Goal:</a:t>
            </a:r>
            <a:r>
              <a:rPr lang="en-US" altLang="en-US" dirty="0">
                <a:solidFill>
                  <a:srgbClr val="2C567A"/>
                </a:solidFill>
              </a:rPr>
              <a:t> Increase subscription product adoption among existing Stripe merchants </a:t>
            </a:r>
          </a:p>
          <a:p>
            <a:pPr lvl="0" fontAlgn="base">
              <a:spcAft>
                <a:spcPct val="0"/>
              </a:spcAft>
            </a:pPr>
            <a:endParaRPr lang="en-US" altLang="en-US" dirty="0">
              <a:solidFill>
                <a:srgbClr val="2C567A"/>
              </a:solidFill>
            </a:endParaRPr>
          </a:p>
          <a:p>
            <a:pPr lvl="0" fontAlgn="base">
              <a:spcAft>
                <a:spcPct val="0"/>
              </a:spcAft>
            </a:pPr>
            <a:r>
              <a:rPr lang="en-US" altLang="en-US" b="1" dirty="0">
                <a:solidFill>
                  <a:srgbClr val="2C567A"/>
                </a:solidFill>
              </a:rPr>
              <a:t>Context:</a:t>
            </a:r>
            <a:r>
              <a:rPr lang="en-US" altLang="en-US" dirty="0">
                <a:solidFill>
                  <a:srgbClr val="2C567A"/>
                </a:solidFill>
              </a:rPr>
              <a:t> Many merchants show recurring payment patterns but manually process them via Checkout/Payment Links </a:t>
            </a:r>
          </a:p>
          <a:p>
            <a:pPr lvl="0" fontAlgn="base">
              <a:spcAft>
                <a:spcPct val="0"/>
              </a:spcAft>
            </a:pPr>
            <a:endParaRPr lang="en-US" altLang="en-US" dirty="0">
              <a:solidFill>
                <a:srgbClr val="2C567A"/>
              </a:solidFill>
            </a:endParaRPr>
          </a:p>
          <a:p>
            <a:pPr lvl="0" fontAlgn="base">
              <a:spcAft>
                <a:spcPct val="0"/>
              </a:spcAft>
            </a:pPr>
            <a:r>
              <a:rPr lang="en-US" altLang="en-US" b="1" dirty="0">
                <a:solidFill>
                  <a:srgbClr val="2C567A"/>
                </a:solidFill>
              </a:rPr>
              <a:t>Opportunity:</a:t>
            </a:r>
            <a:r>
              <a:rPr lang="en-US" altLang="en-US" dirty="0">
                <a:solidFill>
                  <a:srgbClr val="2C567A"/>
                </a:solidFill>
              </a:rPr>
              <a:t> Automate recurring revenue for merchants = better experience + increased Stripe revenue</a:t>
            </a:r>
          </a:p>
          <a:p>
            <a:pPr lvl="0" fontAlgn="base">
              <a:spcAft>
                <a:spcPct val="0"/>
              </a:spcAft>
            </a:pPr>
            <a:endParaRPr lang="en-US" altLang="en-US" dirty="0">
              <a:solidFill>
                <a:srgbClr val="2C567A"/>
              </a:solidFill>
            </a:endParaRPr>
          </a:p>
          <a:p>
            <a:r>
              <a:rPr lang="en-CA" b="1" dirty="0">
                <a:solidFill>
                  <a:srgbClr val="2C567A"/>
                </a:solidFill>
              </a:rPr>
              <a:t>Key Question: </a:t>
            </a:r>
            <a:r>
              <a:rPr lang="en-CA" dirty="0">
                <a:solidFill>
                  <a:srgbClr val="2C567A"/>
                </a:solidFill>
              </a:rPr>
              <a:t>Which existing merchants are most likely to benefit from and adopt subscriptions?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01EC6-4D7C-44B9-A184-0F17D75473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91E5ED-1603-488D-82A3-E1FAA7A6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THE CHALLENGE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9497ECC2-6299-AD3E-D6F6-6BC04D4E29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CF95858-C0B1-AB01-879A-5B3A3C1B4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4A1B124B-9626-4808-1D0C-899975903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815" y="-30983"/>
            <a:ext cx="2255391" cy="12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5C28B2-1738-DC60-385F-106C4C49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8F7515-FF81-E824-9D8A-BCED5A8CA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22" y="17272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Stage 1: Understand who CURRENTLY succeeds with subscriptions</a:t>
            </a:r>
          </a:p>
          <a:p>
            <a:pPr lvl="1"/>
            <a:r>
              <a:rPr lang="en-CA" sz="2400" dirty="0">
                <a:solidFill>
                  <a:srgbClr val="2C567A"/>
                </a:solidFill>
              </a:rPr>
              <a:t>Analyze existing subscription users by industry, geography, business size</a:t>
            </a:r>
          </a:p>
          <a:p>
            <a:pPr lvl="1"/>
            <a:r>
              <a:rPr lang="en-CA" sz="2400" dirty="0">
                <a:solidFill>
                  <a:srgbClr val="2C567A"/>
                </a:solidFill>
              </a:rPr>
              <a:t>Identify success patterns and merchant characteristics</a:t>
            </a:r>
          </a:p>
          <a:p>
            <a:endParaRPr lang="en-CA" dirty="0">
              <a:solidFill>
                <a:srgbClr val="2C567A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Stage 2: Define "subscription-ready" criteria for non-subscribers</a:t>
            </a:r>
          </a:p>
          <a:p>
            <a:pPr lvl="1"/>
            <a:r>
              <a:rPr lang="en-CA" sz="2400" dirty="0">
                <a:solidFill>
                  <a:srgbClr val="2C567A"/>
                </a:solidFill>
              </a:rPr>
              <a:t>Identify merchants with recurring transaction behavior</a:t>
            </a:r>
          </a:p>
          <a:p>
            <a:pPr lvl="1"/>
            <a:r>
              <a:rPr lang="en-CA" sz="2400" dirty="0">
                <a:solidFill>
                  <a:srgbClr val="2C567A"/>
                </a:solidFill>
              </a:rPr>
              <a:t>Filter for meaningful scale and product familiarity</a:t>
            </a:r>
          </a:p>
          <a:p>
            <a:endParaRPr lang="en-CA" dirty="0">
              <a:solidFill>
                <a:srgbClr val="2C567A"/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Stage 3: Build scoring system to prioritize targets</a:t>
            </a:r>
          </a:p>
          <a:p>
            <a:pPr lvl="1"/>
            <a:r>
              <a:rPr lang="en-CA" sz="2400" dirty="0">
                <a:solidFill>
                  <a:srgbClr val="2C567A"/>
                </a:solidFill>
              </a:rPr>
              <a:t>Multi-dimensional scoring across 5 key factors</a:t>
            </a:r>
          </a:p>
          <a:p>
            <a:pPr lvl="1"/>
            <a:r>
              <a:rPr lang="en-CA" sz="2400" dirty="0">
                <a:solidFill>
                  <a:srgbClr val="2C567A"/>
                </a:solidFill>
              </a:rPr>
              <a:t>Segment into actionable tiers (Perfect/Excellent/Good)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C8854-34DC-307C-D096-F20AEC3D49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FF19F1-6964-3068-127E-2DF6EAB4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THREE-STAGE FRAMEWORK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C3AB51FB-8E06-802E-6757-12E353F3E4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83AFF88-1A0D-E175-9ACA-A7CAC3781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C5B5684-DE18-69CD-C7EA-1C65D0F35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9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4BE01F-7B5E-F51E-464E-239EB36D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91298D-CD25-D412-1A51-4977185DB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21" y="1371600"/>
            <a:ext cx="11183075" cy="5084139"/>
          </a:xfrm>
        </p:spPr>
        <p:txBody>
          <a:bodyPr/>
          <a:lstStyle/>
          <a:p>
            <a:r>
              <a:rPr lang="en-CA" sz="2000" dirty="0">
                <a:solidFill>
                  <a:srgbClr val="2C567A"/>
                </a:solidFill>
              </a:rPr>
              <a:t>Key Issues Identified: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Merchant IDs: Removed 179 invalid IDs (0.76% of data) </a:t>
            </a:r>
          </a:p>
          <a:p>
            <a:pPr lvl="1"/>
            <a:r>
              <a:rPr lang="en-CA" dirty="0">
                <a:solidFill>
                  <a:srgbClr val="2C567A"/>
                </a:solidFill>
              </a:rPr>
              <a:t>567 numeric-only IDs</a:t>
            </a:r>
          </a:p>
          <a:p>
            <a:pPr lvl="1"/>
            <a:r>
              <a:rPr lang="en-CA" dirty="0">
                <a:solidFill>
                  <a:srgbClr val="2C567A"/>
                </a:solidFill>
              </a:rPr>
              <a:t>129 scientific notation IDs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Dates: Removed 26 invalid dates (0.11% of data)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Payment Records: Removed 11,327 records with invalid merchant IDs (0.72%)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Final Clean Dataset: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23,422 merchants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1,566,560 payment records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Zero null values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Date range: May 2041 - June 2042 (13 months)</a:t>
            </a:r>
          </a:p>
          <a:p>
            <a:pPr marL="0" indent="0">
              <a:buNone/>
            </a:pPr>
            <a:r>
              <a:rPr lang="en-CA" sz="1400" b="1" dirty="0">
                <a:solidFill>
                  <a:srgbClr val="2C567A"/>
                </a:solidFill>
                <a:highlight>
                  <a:srgbClr val="FFFF00"/>
                </a:highlight>
              </a:rPr>
              <a:t>** Images at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997DC4-843E-6DBC-1330-D5D0647D26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FCC276-1DE8-2E94-5831-29D877A6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DATA CLEANING &amp; VALIDATION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0723EFE0-61F4-B7E1-ABF6-3489203A6E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411F3BC-B15D-12A0-29A5-4F92F59F7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7DE2A3B-7C0E-F39E-37E9-724754662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76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A82683-A63A-612D-E888-69C1E232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726280-24BA-C45D-84FA-FF11BA996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78" y="1520824"/>
            <a:ext cx="11191078" cy="5122281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Critical Discovery:</a:t>
            </a:r>
          </a:p>
          <a:p>
            <a:r>
              <a:rPr lang="en-CA" dirty="0">
                <a:solidFill>
                  <a:srgbClr val="2C567A"/>
                </a:solidFill>
              </a:rPr>
              <a:t>77.7% of payment records show </a:t>
            </a:r>
            <a:r>
              <a:rPr lang="en-CA" dirty="0" err="1">
                <a:solidFill>
                  <a:srgbClr val="2C567A"/>
                </a:solidFill>
              </a:rPr>
              <a:t>total_volume</a:t>
            </a:r>
            <a:r>
              <a:rPr lang="en-CA" dirty="0">
                <a:solidFill>
                  <a:srgbClr val="2C567A"/>
                </a:solidFill>
              </a:rPr>
              <a:t> ≠ sum(subscription + checkout + </a:t>
            </a:r>
            <a:r>
              <a:rPr lang="en-CA" dirty="0" err="1">
                <a:solidFill>
                  <a:srgbClr val="2C567A"/>
                </a:solidFill>
              </a:rPr>
              <a:t>payment_link</a:t>
            </a:r>
            <a:r>
              <a:rPr lang="en-CA" dirty="0">
                <a:solidFill>
                  <a:srgbClr val="2C567A"/>
                </a:solidFill>
              </a:rPr>
              <a:t>)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Root Cause: </a:t>
            </a:r>
          </a:p>
          <a:p>
            <a:r>
              <a:rPr lang="en-CA" dirty="0">
                <a:solidFill>
                  <a:srgbClr val="2C567A"/>
                </a:solidFill>
              </a:rPr>
              <a:t>Products are NOT mutually exclusive (per documentation)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Implication: </a:t>
            </a:r>
          </a:p>
          <a:p>
            <a:r>
              <a:rPr lang="en-CA" dirty="0">
                <a:solidFill>
                  <a:srgbClr val="2C567A"/>
                </a:solidFill>
              </a:rPr>
              <a:t>Merchants can use multiple products for a single transaction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Decision: </a:t>
            </a:r>
          </a:p>
          <a:p>
            <a:r>
              <a:rPr lang="en-CA" dirty="0">
                <a:solidFill>
                  <a:srgbClr val="2C567A"/>
                </a:solidFill>
              </a:rPr>
              <a:t>Use </a:t>
            </a:r>
            <a:r>
              <a:rPr lang="en-CA" dirty="0" err="1">
                <a:solidFill>
                  <a:srgbClr val="2C567A"/>
                </a:solidFill>
              </a:rPr>
              <a:t>total_volume</a:t>
            </a:r>
            <a:r>
              <a:rPr lang="en-CA" dirty="0">
                <a:solidFill>
                  <a:srgbClr val="2C567A"/>
                </a:solidFill>
              </a:rPr>
              <a:t> as-is; product volumes represent overlapping usage, not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693D5-5DE3-1BC5-FCAA-A14A7043F8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1F56D6-B551-BE9A-F35B-208A0D03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9209928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PRODUCT VOLUME OVERLAP-KEY ASSUMPTION!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A7723814-38B6-8BC4-C73D-90C549F224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4AA257D-039F-1558-B675-58370165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58653-AD5C-F5B9-A120-E707E3BED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675821"/>
            <a:ext cx="12192000" cy="57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2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03CB-00E3-A2EF-FFD5-5C5CDBBB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78E12F-A2AC-E87D-339E-738CD11C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Key Findings: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Top Industry: US Software - 81 merchants, $195K/month avg subscription revenue</a:t>
            </a:r>
          </a:p>
          <a:p>
            <a:r>
              <a:rPr lang="en-CA" sz="2000" dirty="0">
                <a:solidFill>
                  <a:srgbClr val="2C567A"/>
                </a:solidFill>
              </a:rPr>
              <a:t>High Reliance: 84-90% of revenue from subscriptions once adopted</a:t>
            </a:r>
          </a:p>
          <a:p>
            <a:r>
              <a:rPr lang="en-CA" sz="2000" dirty="0">
                <a:solidFill>
                  <a:srgbClr val="2C567A"/>
                </a:solidFill>
              </a:rPr>
              <a:t>Geographic Concentration: US, GB, Japan lead adoption</a:t>
            </a:r>
          </a:p>
          <a:p>
            <a:r>
              <a:rPr lang="en-CA" sz="2000" dirty="0">
                <a:solidFill>
                  <a:srgbClr val="2C567A"/>
                </a:solidFill>
              </a:rPr>
              <a:t>Business Size: Small businesses dominate successful adoption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F2846-C950-56A2-C8DA-B0475360B4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DA8845-8737-A49E-C2B1-4094DD76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8921573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Who Succeeds with Subscriptions Today?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D5843FF9-6C5A-1233-0BAD-03CBEB76694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039BB4E-7EA8-68A5-AD69-8E9D1FA0C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09B2DE59-C816-0135-02FF-269BCE61B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CA0C9B-CEC8-D525-E9A7-AB36ECC2F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066" y="3429000"/>
            <a:ext cx="7772400" cy="3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5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DCBF-DB36-D369-64A3-628619B9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FD6414-02A7-65EC-147A-031334105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Key Insight: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25 US Software merchants use BOTH Checkout (73%) AND Subscriptions (84%)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Product overlap validates gradual migration strategy</a:t>
            </a:r>
          </a:p>
          <a:p>
            <a:r>
              <a:rPr lang="en-CA" sz="2000" dirty="0">
                <a:solidFill>
                  <a:srgbClr val="2C567A"/>
                </a:solidFill>
              </a:rPr>
              <a:t>Merchants don't abandon Checkout when adopting Subscriptions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Implication: Existing Checkout users are ideal conversion candidates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7FEA30-9F7F-2E7E-A838-117BA25719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7F1515-9B06-8137-E43E-B0BF1E5D8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The Migration Path: Checkout → Subscription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E3B9FC9C-6203-17D8-820C-B74BA556C1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F1E076F-C8C3-E96F-517F-4AB856A1A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A95CC749-8FFF-36DC-B6D6-65295280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0679B9-FC8F-89F6-BA92-B098D9830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267" y="3337775"/>
            <a:ext cx="8277718" cy="35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1E51-1080-7D03-8FAC-ACD749F2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AB552-A880-3706-D56B-E3EE79962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Key Insight: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567A"/>
                </a:solidFill>
              </a:rPr>
              <a:t>Small businesses show 86-92% subscription reliance once adopted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567A"/>
                </a:solidFill>
              </a:rPr>
              <a:t>Software: 92% reliance, $49,556/month avg revenue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567A"/>
                </a:solidFill>
              </a:rPr>
              <a:t>Medical Services: 92% reliance, $8,600/month avg revenue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2C567A"/>
                </a:solidFill>
              </a:rPr>
              <a:t>Takeaway</a:t>
            </a:r>
            <a:r>
              <a:rPr lang="en-US" altLang="en-US" sz="2000" dirty="0">
                <a:solidFill>
                  <a:srgbClr val="2C567A"/>
                </a:solidFill>
              </a:rPr>
              <a:t>: Once merchants adopt subscriptions, it becomes core to their business model</a:t>
            </a: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FF9715-B653-E622-71CF-C174F965D2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820626-3A00-EE17-D728-CB158C9F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Subscription Becomes Essential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6E71207F-61CC-9A44-64FA-DD04067E2E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DBE2A68-0BCF-5BF6-3A80-D53BBCE5E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DE8721B-DFA7-F3F8-837F-CAF2D57B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37B3A7-D3DC-6997-3722-A6AFF59A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23" y="2958894"/>
            <a:ext cx="9168646" cy="389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2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F5CD-1468-7404-BC8C-5E1186AB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8928F6-CD29-6396-F30A-02D8FE99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Critical Insight: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Mature merchants (12+ months): $63,937/month subscription revenue</a:t>
            </a:r>
          </a:p>
          <a:p>
            <a:r>
              <a:rPr lang="en-CA" sz="2000" dirty="0">
                <a:solidFill>
                  <a:srgbClr val="2C567A"/>
                </a:solidFill>
              </a:rPr>
              <a:t>New merchants (≤6 months): $11,784/month subscription revenue</a:t>
            </a:r>
          </a:p>
          <a:p>
            <a:r>
              <a:rPr lang="en-CA" sz="2000" dirty="0">
                <a:solidFill>
                  <a:srgbClr val="2C567A"/>
                </a:solidFill>
              </a:rPr>
              <a:t>5.4X difference in subscription revenue by tenure</a:t>
            </a:r>
          </a:p>
          <a:p>
            <a:r>
              <a:rPr lang="en-CA" sz="2000" dirty="0">
                <a:solidFill>
                  <a:srgbClr val="2C567A"/>
                </a:solidFill>
              </a:rPr>
              <a:t>Implication: Target established merchants (6+ months), not brand new signups</a:t>
            </a: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DF996-54B0-F62D-CED0-27155D0FD11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776DDE-AB0F-258F-D55B-2AF00BFA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Timing the Outreach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AED61A3F-5AD4-0DC5-6494-1FA9A82854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D4361B3-FB61-B8FA-221B-E4897742D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BB22753-28AF-65FD-1A39-96BBE76E9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51C4DC3A-C4E2-1739-DFBC-1F4580A2D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825A03-8D2E-FBC5-9F81-EC3009B1B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956" y="3337775"/>
            <a:ext cx="8277718" cy="35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5332-1491-373C-2DA2-EF55DE35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A7A106-E439-5EFC-4419-53A637BA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Key Validation: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Very Frequent (≤3 days): 573 merchants, $71,998/month avg</a:t>
            </a:r>
          </a:p>
          <a:p>
            <a:r>
              <a:rPr lang="en-CA" sz="2000" dirty="0">
                <a:solidFill>
                  <a:srgbClr val="2C567A"/>
                </a:solidFill>
              </a:rPr>
              <a:t>Frequent (4-7 days): 136 merchants, $8,140/month avg</a:t>
            </a:r>
          </a:p>
          <a:p>
            <a:r>
              <a:rPr lang="en-CA" sz="2000" dirty="0">
                <a:solidFill>
                  <a:srgbClr val="2C567A"/>
                </a:solidFill>
              </a:rPr>
              <a:t>Moderate (8-10 days): 48 merchants, $6,769/month avg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Validates our targeting: </a:t>
            </a:r>
            <a:r>
              <a:rPr lang="en-CA" sz="2000" dirty="0">
                <a:solidFill>
                  <a:srgbClr val="2C567A"/>
                </a:solidFill>
              </a:rPr>
              <a:t>Merchants with ≤10 days between transactions show subscription success</a:t>
            </a: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7C1B1-EECD-77C2-BC6A-E2F4B41BFC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506232-FB03-7543-9280-0DB88FF1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Transaction Frequency Predicts Success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6E8734CB-97EB-F72C-4B7E-FFDFA13B6E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A0C0146-F805-B4A9-55AF-64A8A9559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65804A1-AB0F-9DD8-8D15-0CBC93170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13749FC-5E63-879C-F2CE-664FAD12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5418D7-18C5-576D-CF69-31EC5E65D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932" y="3244091"/>
            <a:ext cx="8498013" cy="36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8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2132-A5D1-5C2E-F407-66C82F23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27695C-FCC9-A7B7-66C6-19882FFD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We created a VIEW (</a:t>
            </a:r>
            <a:r>
              <a:rPr lang="en-CA" sz="2000" b="1" dirty="0" err="1">
                <a:solidFill>
                  <a:srgbClr val="2C567A"/>
                </a:solidFill>
              </a:rPr>
              <a:t>recurring_merchants</a:t>
            </a:r>
            <a:r>
              <a:rPr lang="en-CA" sz="2000" b="1" dirty="0">
                <a:solidFill>
                  <a:srgbClr val="2C567A"/>
                </a:solidFill>
              </a:rPr>
              <a:t>) filtering for: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No Current Subscription Usage </a:t>
            </a:r>
            <a:r>
              <a:rPr lang="en-CA" sz="2000" dirty="0">
                <a:solidFill>
                  <a:srgbClr val="2C567A"/>
                </a:solidFill>
              </a:rPr>
              <a:t>(</a:t>
            </a:r>
            <a:r>
              <a:rPr lang="en-CA" sz="2000" dirty="0" err="1">
                <a:solidFill>
                  <a:srgbClr val="2C567A"/>
                </a:solidFill>
              </a:rPr>
              <a:t>subscription_volume</a:t>
            </a:r>
            <a:r>
              <a:rPr lang="en-CA" sz="2000" dirty="0">
                <a:solidFill>
                  <a:srgbClr val="2C567A"/>
                </a:solidFill>
              </a:rPr>
              <a:t> = 0)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Recurring Transaction Behavior </a:t>
            </a:r>
            <a:r>
              <a:rPr lang="en-CA" sz="2000" dirty="0">
                <a:solidFill>
                  <a:srgbClr val="2C567A"/>
                </a:solidFill>
              </a:rPr>
              <a:t>(≤10 days average between transactions)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Established Pattern </a:t>
            </a:r>
            <a:r>
              <a:rPr lang="en-CA" sz="2000" dirty="0">
                <a:solidFill>
                  <a:srgbClr val="2C567A"/>
                </a:solidFill>
              </a:rPr>
              <a:t>(&gt;10 total transactions in dataset)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Sufficient Scale </a:t>
            </a:r>
            <a:r>
              <a:rPr lang="en-CA" sz="2000" dirty="0">
                <a:solidFill>
                  <a:srgbClr val="2C567A"/>
                </a:solidFill>
              </a:rPr>
              <a:t>(Meaningful transaction volume)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Rationale: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Subscriptions solve a problem for recurring revenue businesses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If they're manually processing recurring payments, they're ideal candidates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Filters ensure we target merchants with proven, sustainable patterns</a:t>
            </a:r>
          </a:p>
          <a:p>
            <a:endParaRPr lang="en-CA" sz="2000" dirty="0">
              <a:solidFill>
                <a:srgbClr val="2C567A"/>
              </a:solidFill>
            </a:endParaRPr>
          </a:p>
          <a:p>
            <a:r>
              <a:rPr lang="en-CA" sz="2000" b="1" dirty="0">
                <a:solidFill>
                  <a:srgbClr val="2C567A"/>
                </a:solidFill>
              </a:rPr>
              <a:t>Result: </a:t>
            </a:r>
            <a:r>
              <a:rPr lang="en-CA" sz="2000" dirty="0">
                <a:solidFill>
                  <a:srgbClr val="2C567A"/>
                </a:solidFill>
              </a:rPr>
              <a:t>7,819 qualifying merchants</a:t>
            </a: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878182-6328-A0E3-E5CD-9856EF4724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4DDB81-87C7-2779-00EA-DFC539DF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Target Criteria for Non-Subscribers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D20C6FE0-7F22-DE27-299C-38A836B53D9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5BF529F-07A3-D7E7-E45E-1E594D6C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1851655-2710-6338-E31B-3F408AFD4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8E5615DF-947C-4F2B-77AE-421272544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28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D77-4CB7-1D23-A456-82143548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D22FBE-8EDD-38A1-0F51-5FB0C3288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Scoring Philosophy: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Use percentile analysis on qualifying merchants, not arbitrary numbers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3 points = P90+ (top 10% performers)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2 points = P75+ (top 25% performers)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1 point = Everyone else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Thresholds: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Volume: P75 = $8,746/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P90 = $29,561/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endParaRPr lang="en-CA" sz="2000" dirty="0">
              <a:solidFill>
                <a:srgbClr val="2C567A"/>
              </a:solidFill>
            </a:endParaRPr>
          </a:p>
          <a:p>
            <a:r>
              <a:rPr lang="en-CA" sz="2000" dirty="0">
                <a:solidFill>
                  <a:srgbClr val="2C567A"/>
                </a:solidFill>
              </a:rPr>
              <a:t>Checkout: P75 = $6,012/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P90 = $20,018/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endParaRPr lang="en-CA" sz="2000" dirty="0">
              <a:solidFill>
                <a:srgbClr val="2C567A"/>
              </a:solidFill>
            </a:endParaRPr>
          </a:p>
          <a:p>
            <a:r>
              <a:rPr lang="en-CA" sz="2000" dirty="0">
                <a:solidFill>
                  <a:srgbClr val="2C567A"/>
                </a:solidFill>
              </a:rPr>
              <a:t>Transactions: P75 = 18/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P90 = 26/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endParaRPr lang="en-CA" sz="2000" dirty="0">
              <a:solidFill>
                <a:srgbClr val="2C567A"/>
              </a:solidFill>
            </a:endParaRP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0E0B58-D20F-656D-67F1-B31CF70056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8A67CB-BF55-7A7C-89A3-54FFA440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Data-Driven Threshold Selection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BDCB30C5-F9C4-6A01-03B8-BC0F2A14C06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17D19CF-62E2-D640-548A-8236842DD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4DCDD105-1BD6-EF58-2660-AAF585333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9FA6BA5E-F0C2-0B39-5AC7-29A828E48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751B70-9D78-39E2-EEC2-9B3356AB8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483" y="3069851"/>
            <a:ext cx="7012517" cy="357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A639-D6C0-0552-7D6C-A6DE1390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857F31-5E54-F253-7E46-AA74C7BC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6192429" cy="444976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Scoring Philosophy:</a:t>
            </a: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58E35-4CBA-5767-A9A4-C519527477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74CC3B-D03E-2B40-5C93-B879B5B6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FIVE-DIMENSIONAL SCORING FRAMEWORK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53652CCA-DFC1-4C2E-205A-0E9F661F26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ACD28F0-4418-6E42-1D0B-59D6D5C4A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989DAD34-36C0-E727-0F09-B3C9B50D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DBD5F008-7BB3-13A7-0AAF-3B93DBF48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79C658-CF3A-01B5-7C78-3DCA1A6E2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135536"/>
              </p:ext>
            </p:extLst>
          </p:nvPr>
        </p:nvGraphicFramePr>
        <p:xfrm>
          <a:off x="184731" y="2017887"/>
          <a:ext cx="7198204" cy="4145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551">
                  <a:extLst>
                    <a:ext uri="{9D8B030D-6E8A-4147-A177-3AD203B41FA5}">
                      <a16:colId xmlns:a16="http://schemas.microsoft.com/office/drawing/2014/main" val="2120957123"/>
                    </a:ext>
                  </a:extLst>
                </a:gridCol>
                <a:gridCol w="1799551">
                  <a:extLst>
                    <a:ext uri="{9D8B030D-6E8A-4147-A177-3AD203B41FA5}">
                      <a16:colId xmlns:a16="http://schemas.microsoft.com/office/drawing/2014/main" val="1589688866"/>
                    </a:ext>
                  </a:extLst>
                </a:gridCol>
                <a:gridCol w="1799551">
                  <a:extLst>
                    <a:ext uri="{9D8B030D-6E8A-4147-A177-3AD203B41FA5}">
                      <a16:colId xmlns:a16="http://schemas.microsoft.com/office/drawing/2014/main" val="2838863088"/>
                    </a:ext>
                  </a:extLst>
                </a:gridCol>
                <a:gridCol w="1799551">
                  <a:extLst>
                    <a:ext uri="{9D8B030D-6E8A-4147-A177-3AD203B41FA5}">
                      <a16:colId xmlns:a16="http://schemas.microsoft.com/office/drawing/2014/main" val="2027572932"/>
                    </a:ext>
                  </a:extLst>
                </a:gridCol>
              </a:tblGrid>
              <a:tr h="690974">
                <a:tc>
                  <a:txBody>
                    <a:bodyPr/>
                    <a:lstStyle/>
                    <a:p>
                      <a:r>
                        <a:rPr lang="en-US" dirty="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09386"/>
                  </a:ext>
                </a:extLst>
              </a:tr>
              <a:tr h="690974">
                <a:tc>
                  <a:txBody>
                    <a:bodyPr/>
                    <a:lstStyle/>
                    <a:p>
                      <a:r>
                        <a:rPr lang="en-US" dirty="0"/>
                        <a:t>Volume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&gt;= $30K/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&gt;= $30K/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 $8.75K/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76507"/>
                  </a:ext>
                </a:extLst>
              </a:tr>
              <a:tr h="690974">
                <a:tc>
                  <a:txBody>
                    <a:bodyPr/>
                    <a:lstStyle/>
                    <a:p>
                      <a:r>
                        <a:rPr lang="en-US" dirty="0"/>
                        <a:t>Checkout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&gt;= $20K/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&gt;= $6K/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 $6K/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311799"/>
                  </a:ext>
                </a:extLst>
              </a:tr>
              <a:tr h="690974">
                <a:tc>
                  <a:txBody>
                    <a:bodyPr/>
                    <a:lstStyle/>
                    <a:p>
                      <a:r>
                        <a:rPr lang="en-US" dirty="0"/>
                        <a:t>Engagement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&gt;= 12 months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&gt;= 6 months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6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22516"/>
                  </a:ext>
                </a:extLst>
              </a:tr>
              <a:tr h="690974">
                <a:tc>
                  <a:txBody>
                    <a:bodyPr/>
                    <a:lstStyle/>
                    <a:p>
                      <a:r>
                        <a:rPr lang="en-US" dirty="0"/>
                        <a:t>Frequency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&lt;=5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&lt;=7 days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&lt;=10 days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077184"/>
                  </a:ext>
                </a:extLst>
              </a:tr>
              <a:tr h="690974">
                <a:tc>
                  <a:txBody>
                    <a:bodyPr/>
                    <a:lstStyle/>
                    <a:p>
                      <a:r>
                        <a:rPr lang="en-US" dirty="0"/>
                        <a:t>Transaction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&gt;=25/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&gt;=15/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&lt;15/</a:t>
                      </a:r>
                      <a:r>
                        <a:rPr lang="en-US" dirty="0" err="1"/>
                        <a:t>mo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29885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932FAAF-F89A-B70B-28EC-7EC120D17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61840"/>
              </p:ext>
            </p:extLst>
          </p:nvPr>
        </p:nvGraphicFramePr>
        <p:xfrm>
          <a:off x="7417864" y="2017886"/>
          <a:ext cx="4572000" cy="4145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869">
                  <a:extLst>
                    <a:ext uri="{9D8B030D-6E8A-4147-A177-3AD203B41FA5}">
                      <a16:colId xmlns:a16="http://schemas.microsoft.com/office/drawing/2014/main" val="1370702686"/>
                    </a:ext>
                  </a:extLst>
                </a:gridCol>
                <a:gridCol w="2270131">
                  <a:extLst>
                    <a:ext uri="{9D8B030D-6E8A-4147-A177-3AD203B41FA5}">
                      <a16:colId xmlns:a16="http://schemas.microsoft.com/office/drawing/2014/main" val="738877148"/>
                    </a:ext>
                  </a:extLst>
                </a:gridCol>
              </a:tblGrid>
              <a:tr h="1036461">
                <a:tc>
                  <a:txBody>
                    <a:bodyPr/>
                    <a:lstStyle/>
                    <a:p>
                      <a:r>
                        <a:rPr lang="en-US" sz="2400" dirty="0"/>
                        <a:t>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739615"/>
                  </a:ext>
                </a:extLst>
              </a:tr>
              <a:tr h="1036461">
                <a:tc>
                  <a:txBody>
                    <a:bodyPr/>
                    <a:lstStyle/>
                    <a:p>
                      <a:r>
                        <a:rPr lang="en-US" sz="2400" b="1" dirty="0"/>
                        <a:t>Perfect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Score 12-15</a:t>
                      </a:r>
                    </a:p>
                    <a:p>
                      <a:r>
                        <a:rPr lang="en-US" dirty="0"/>
                        <a:t>(immediate focus)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886792"/>
                  </a:ext>
                </a:extLst>
              </a:tr>
              <a:tr h="1036461">
                <a:tc>
                  <a:txBody>
                    <a:bodyPr/>
                    <a:lstStyle/>
                    <a:p>
                      <a:r>
                        <a:rPr lang="en-US" sz="2400" b="1" dirty="0"/>
                        <a:t>Excellent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Score 9-11</a:t>
                      </a:r>
                    </a:p>
                    <a:p>
                      <a:r>
                        <a:rPr lang="en-US" dirty="0"/>
                        <a:t>(secondary wave)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953833"/>
                  </a:ext>
                </a:extLst>
              </a:tr>
              <a:tr h="1036461">
                <a:tc>
                  <a:txBody>
                    <a:bodyPr/>
                    <a:lstStyle/>
                    <a:p>
                      <a:r>
                        <a:rPr lang="en-US" sz="2400" b="1" dirty="0"/>
                        <a:t>Good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Score&lt;9</a:t>
                      </a:r>
                    </a:p>
                    <a:p>
                      <a:r>
                        <a:rPr lang="en-US" dirty="0"/>
                        <a:t>(long tail opportunity)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4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771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2713-E64D-D20C-4E40-FD6EFA40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3EAD43-D022-F125-7FDC-015B60571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Results: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Total Qualifying: 7,819 merchants</a:t>
            </a:r>
          </a:p>
          <a:p>
            <a:r>
              <a:rPr lang="en-CA" sz="2000" dirty="0">
                <a:solidFill>
                  <a:srgbClr val="2C567A"/>
                </a:solidFill>
              </a:rPr>
              <a:t>Perfect Targets (12-15): 860 merchants (11%)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Excellent Targets (9-11): 3,439 merchants (44%)</a:t>
            </a:r>
          </a:p>
          <a:p>
            <a:r>
              <a:rPr lang="en-CA" sz="2000" dirty="0">
                <a:solidFill>
                  <a:srgbClr val="2C567A"/>
                </a:solidFill>
              </a:rPr>
              <a:t>Good Targets (&lt;9): 3,520 merchants (45%)</a:t>
            </a: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Key Insight:</a:t>
            </a:r>
          </a:p>
          <a:p>
            <a:r>
              <a:rPr lang="en-CA" sz="2000" dirty="0">
                <a:solidFill>
                  <a:srgbClr val="2C567A"/>
                </a:solidFill>
              </a:rPr>
              <a:t>Scoring system is selective - only 11% reach "perfect" tier</a:t>
            </a:r>
          </a:p>
          <a:p>
            <a:r>
              <a:rPr lang="en-CA" sz="2000" dirty="0">
                <a:solidFill>
                  <a:srgbClr val="2C567A"/>
                </a:solidFill>
              </a:rPr>
              <a:t>Pyramid shape validates tiered prioritization approach</a:t>
            </a:r>
          </a:p>
          <a:p>
            <a:r>
              <a:rPr lang="en-CA" sz="2000" dirty="0">
                <a:solidFill>
                  <a:srgbClr val="2C567A"/>
                </a:solidFill>
              </a:rPr>
              <a:t>Ensures sales resources focus on highest-probability conversions</a:t>
            </a:r>
          </a:p>
          <a:p>
            <a:endParaRPr lang="en-CA" sz="20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FF391-1DC6-7C94-8902-68F226D488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CBA493-8CAA-43AB-E37C-0976F290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Target Universe Breakdown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E627F142-294F-4B67-B1C1-42C09A7370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ED1125F7-E619-057F-2411-9DD3F992A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015F3FA-32ED-9E96-DC19-95120A06F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AF3AB662-060D-BAF0-C6D2-D7C51117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553F2-1CDC-22E4-AA8F-CFA11D209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504" y="1371599"/>
            <a:ext cx="6680496" cy="357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6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5750-82CB-6DC8-3F4E-796D5E0B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74EA14-2308-1AB9-99C1-E44183725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Top 5 Segments: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US Software, Small: </a:t>
            </a:r>
            <a:r>
              <a:rPr lang="en-CA" sz="2000" dirty="0">
                <a:solidFill>
                  <a:srgbClr val="2C567A"/>
                </a:solidFill>
              </a:rPr>
              <a:t>37 perfect targets, $32,301/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 avg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US Business Services, Small: </a:t>
            </a:r>
            <a:r>
              <a:rPr lang="en-CA" sz="2000" dirty="0">
                <a:solidFill>
                  <a:srgbClr val="2C567A"/>
                </a:solidFill>
              </a:rPr>
              <a:t>35 perfect targets, $24,664/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 avg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GB Food &amp; Drink, Small: </a:t>
            </a:r>
            <a:r>
              <a:rPr lang="en-CA" sz="2000" dirty="0">
                <a:solidFill>
                  <a:srgbClr val="2C567A"/>
                </a:solidFill>
              </a:rPr>
              <a:t>24 perfect targets, $13,573/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 avg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US Others, Small: </a:t>
            </a:r>
            <a:r>
              <a:rPr lang="en-CA" sz="2000" dirty="0">
                <a:solidFill>
                  <a:srgbClr val="2C567A"/>
                </a:solidFill>
              </a:rPr>
              <a:t>23 perfect targets, $22,329/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 avg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US Education, Small: </a:t>
            </a:r>
            <a:r>
              <a:rPr lang="en-CA" sz="2000" dirty="0">
                <a:solidFill>
                  <a:srgbClr val="2C567A"/>
                </a:solidFill>
              </a:rPr>
              <a:t>20 perfect targets, $18,366/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 avg</a:t>
            </a: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8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C14BD7-A07C-CF50-3328-AD8BB82F9E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7FBE01-05EF-C084-6188-8E05D4BE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Where to Focus: Industry × Country × Size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5467F1A0-ECB9-DF87-832A-F01133A6A6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315F222-A5A2-53B1-97BE-1FD1A3E22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72C2171-7F76-81AC-F7C7-7B28474D2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42B3B69A-2637-7BC2-B2E9-0EC62E1B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D8B14-C3C3-A871-5F14-78D429081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772" y="3680178"/>
            <a:ext cx="9900455" cy="2684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8B29A7-4932-52C8-8FFA-F36DCADCE7BA}"/>
              </a:ext>
            </a:extLst>
          </p:cNvPr>
          <p:cNvSpPr txBox="1"/>
          <p:nvPr/>
        </p:nvSpPr>
        <p:spPr>
          <a:xfrm>
            <a:off x="1580445" y="6364756"/>
            <a:ext cx="8885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rgbClr val="2C567A"/>
                </a:solidFill>
              </a:rPr>
              <a:t>Pattern: US small businesses dominate top segments!</a:t>
            </a:r>
          </a:p>
        </p:txBody>
      </p:sp>
    </p:spTree>
    <p:extLst>
      <p:ext uri="{BB962C8B-B14F-4D97-AF65-F5344CB8AC3E}">
        <p14:creationId xmlns:p14="http://schemas.microsoft.com/office/powerpoint/2010/main" val="2392478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AF0D-0F34-B4D2-65CA-C56F1351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7B13E-7590-96F3-6A15-A5F57E429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60" y="1371600"/>
            <a:ext cx="11549416" cy="4449763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The Proof:</a:t>
            </a:r>
          </a:p>
          <a:p>
            <a:pPr marL="0" indent="0">
              <a:buNone/>
            </a:pPr>
            <a:r>
              <a:rPr lang="en-CA" sz="2200" b="1" dirty="0">
                <a:solidFill>
                  <a:srgbClr val="2C567A"/>
                </a:solidFill>
              </a:rPr>
              <a:t>Business Services: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Subscribed Winners: </a:t>
            </a:r>
            <a:r>
              <a:rPr lang="en-CA" sz="2000" dirty="0">
                <a:solidFill>
                  <a:srgbClr val="2C567A"/>
                </a:solidFill>
              </a:rPr>
              <a:t>$79,873/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13.56 months tenure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Our Targets: </a:t>
            </a:r>
            <a:r>
              <a:rPr lang="en-CA" sz="2000" dirty="0">
                <a:solidFill>
                  <a:srgbClr val="2C567A"/>
                </a:solidFill>
              </a:rPr>
              <a:t>$200,700/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13.70 months tenure ✅</a:t>
            </a:r>
          </a:p>
          <a:p>
            <a:pPr marL="0" indent="0">
              <a:buNone/>
            </a:pPr>
            <a:r>
              <a:rPr lang="en-CA" sz="2200" b="1" dirty="0">
                <a:solidFill>
                  <a:srgbClr val="2C567A"/>
                </a:solidFill>
              </a:rPr>
              <a:t>Software: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Subscribed Winners: </a:t>
            </a:r>
            <a:r>
              <a:rPr lang="en-CA" sz="2000" dirty="0">
                <a:solidFill>
                  <a:srgbClr val="2C567A"/>
                </a:solidFill>
              </a:rPr>
              <a:t>$408,196/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13.20 months tenure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Our Targets: </a:t>
            </a:r>
            <a:r>
              <a:rPr lang="en-CA" sz="2000" dirty="0">
                <a:solidFill>
                  <a:srgbClr val="2C567A"/>
                </a:solidFill>
              </a:rPr>
              <a:t>$139,464/</a:t>
            </a:r>
            <a:r>
              <a:rPr lang="en-CA" sz="2000" dirty="0" err="1">
                <a:solidFill>
                  <a:srgbClr val="2C567A"/>
                </a:solidFill>
              </a:rPr>
              <a:t>mo</a:t>
            </a:r>
            <a:r>
              <a:rPr lang="en-CA" sz="2000" dirty="0">
                <a:solidFill>
                  <a:srgbClr val="2C567A"/>
                </a:solidFill>
              </a:rPr>
              <a:t>, 13.81 months tenure </a:t>
            </a:r>
            <a:r>
              <a:rPr lang="en-CA" sz="2000" b="1" dirty="0">
                <a:solidFill>
                  <a:srgbClr val="2C567A"/>
                </a:solidFill>
              </a:rPr>
              <a:t>✅</a:t>
            </a: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800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endParaRPr lang="en-CA" sz="2000" b="1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DD683-788C-3120-EFD0-FD84C9F6CA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E4DBF3-C75A-4507-2853-D99F899F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437076"/>
            <a:ext cx="10345884" cy="872005"/>
          </a:xfr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>
                <a:solidFill>
                  <a:srgbClr val="2C567A"/>
                </a:solidFill>
              </a:rPr>
              <a:t>Do Our Targets Look Like Subscription Winners?</a:t>
            </a:r>
          </a:p>
        </p:txBody>
      </p:sp>
      <p:pic>
        <p:nvPicPr>
          <p:cNvPr id="11" name="Picture Placeholder 10" descr="A blue and black logo&#10;&#10;Description automatically generated">
            <a:extLst>
              <a:ext uri="{FF2B5EF4-FFF2-40B4-BE49-F238E27FC236}">
                <a16:creationId xmlns:a16="http://schemas.microsoft.com/office/drawing/2014/main" id="{B9F511D4-49D8-1D80-294C-32F304A996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763573" y="0"/>
            <a:ext cx="1428427" cy="1309082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6B4E387-DC91-C83D-A024-C0ACCF71F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6E5BA06-ED38-DCEE-8B0C-CB0234606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04" y="-55098"/>
            <a:ext cx="2425207" cy="1364179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65FA2643-387B-2AAE-A319-F2B91042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A552BF-FEF8-08CA-6AF7-86C70EFC2F97}"/>
              </a:ext>
            </a:extLst>
          </p:cNvPr>
          <p:cNvSpPr txBox="1"/>
          <p:nvPr/>
        </p:nvSpPr>
        <p:spPr>
          <a:xfrm>
            <a:off x="92365" y="6088559"/>
            <a:ext cx="117876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200" b="1" dirty="0">
                <a:solidFill>
                  <a:srgbClr val="2C567A"/>
                </a:solidFill>
              </a:rPr>
              <a:t>Validation: </a:t>
            </a:r>
            <a:r>
              <a:rPr lang="en-CA" sz="2200" dirty="0">
                <a:solidFill>
                  <a:srgbClr val="2C567A"/>
                </a:solidFill>
              </a:rPr>
              <a:t>Our non-subscribed targets have the SAME maturity and checkout usage as merchants who already succeed with subscriptions. This proves our targeting methodology is sound.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CC1C37-656B-F087-8267-877BD4EC2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16" y="4210756"/>
            <a:ext cx="11562529" cy="197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79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116B40-12B0-74A6-727F-7DF1F08F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069B93-2CA4-EAD8-94F7-E1897F700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Phase 1: Pilot (Top 72 Merchants)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Target:</a:t>
            </a:r>
            <a:r>
              <a:rPr lang="en-CA" sz="2000" dirty="0">
                <a:solidFill>
                  <a:srgbClr val="2C567A"/>
                </a:solidFill>
              </a:rPr>
              <a:t> US Software (37) + US Business Services (35)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Filter:</a:t>
            </a:r>
            <a:r>
              <a:rPr lang="en-CA" sz="2000" dirty="0">
                <a:solidFill>
                  <a:srgbClr val="2C567A"/>
                </a:solidFill>
              </a:rPr>
              <a:t> Small business, Score 12-15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Expected Conversion: </a:t>
            </a:r>
            <a:r>
              <a:rPr lang="en-CA" sz="2000" dirty="0">
                <a:solidFill>
                  <a:srgbClr val="2C567A"/>
                </a:solidFill>
              </a:rPr>
              <a:t>20% (industry standard for targeted B2B)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Expected Outcomes: </a:t>
            </a:r>
            <a:r>
              <a:rPr lang="en-CA" sz="2000" dirty="0">
                <a:solidFill>
                  <a:srgbClr val="2C567A"/>
                </a:solidFill>
              </a:rPr>
              <a:t>14-15 new subscription adopters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New MRR: </a:t>
            </a:r>
            <a:r>
              <a:rPr lang="en-CA" sz="2000" dirty="0">
                <a:solidFill>
                  <a:srgbClr val="2C567A"/>
                </a:solidFill>
              </a:rPr>
              <a:t>$210K-225K/month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Annual Run Rate: </a:t>
            </a:r>
            <a:r>
              <a:rPr lang="en-CA" sz="2000" dirty="0">
                <a:solidFill>
                  <a:srgbClr val="2C567A"/>
                </a:solidFill>
              </a:rPr>
              <a:t>$2.52M-2.7M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2C567A"/>
                </a:solidFill>
              </a:rPr>
              <a:t>Phase 2: Scale (Next 128 Merchants)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Target:</a:t>
            </a:r>
            <a:r>
              <a:rPr lang="en-CA" sz="2000" dirty="0">
                <a:solidFill>
                  <a:srgbClr val="2C567A"/>
                </a:solidFill>
              </a:rPr>
              <a:t> Expand to top 200 perfect targets across all industries/geographies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Expected Outcomes: </a:t>
            </a:r>
            <a:r>
              <a:rPr lang="en-CA" sz="2000" dirty="0">
                <a:solidFill>
                  <a:srgbClr val="2C567A"/>
                </a:solidFill>
              </a:rPr>
              <a:t>Additional 25-30 conversions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Cumulative New MRR: </a:t>
            </a:r>
            <a:r>
              <a:rPr lang="en-CA" sz="2000" dirty="0">
                <a:solidFill>
                  <a:srgbClr val="2C567A"/>
                </a:solidFill>
              </a:rPr>
              <a:t>$450K-600K/month</a:t>
            </a:r>
          </a:p>
          <a:p>
            <a:r>
              <a:rPr lang="en-CA" sz="2000" b="1" dirty="0">
                <a:solidFill>
                  <a:srgbClr val="2C567A"/>
                </a:solidFill>
              </a:rPr>
              <a:t>Annual Run Rate:</a:t>
            </a:r>
            <a:r>
              <a:rPr lang="en-CA" sz="2000" dirty="0">
                <a:solidFill>
                  <a:srgbClr val="2C567A"/>
                </a:solidFill>
              </a:rPr>
              <a:t> $5.4M-7.2M</a:t>
            </a:r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6D2565-4233-23CA-2574-5FE3D6B7A2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0B481C-5C5E-5B59-1EC6-7EC0344B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Phased Rollout Strategy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CA4951E9-A07A-E4B7-BDC7-2E73A3BAA1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655B2ACA-5B33-BF8B-EC3D-939C2828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4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A8702F-CD32-85C2-E9F5-5AD673A2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7918D-A291-2A18-6E8B-1E7EB4A1C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087" y="1402802"/>
            <a:ext cx="11191078" cy="5055148"/>
          </a:xfrm>
        </p:spPr>
        <p:txBody>
          <a:bodyPr/>
          <a:lstStyle/>
          <a:p>
            <a:pPr marL="0" indent="0">
              <a:buNone/>
            </a:pPr>
            <a:r>
              <a:rPr lang="en-CA" sz="2200" b="1" dirty="0">
                <a:solidFill>
                  <a:srgbClr val="2C567A"/>
                </a:solidFill>
              </a:rPr>
              <a:t>Metric 1: Subscription Adoption Rate</a:t>
            </a:r>
          </a:p>
          <a:p>
            <a:r>
              <a:rPr lang="en-CA" sz="2200" dirty="0">
                <a:solidFill>
                  <a:srgbClr val="2C567A"/>
                </a:solidFill>
              </a:rPr>
              <a:t>Definition: % of targeted merchants who activate subscriptions within 90 days</a:t>
            </a:r>
          </a:p>
          <a:p>
            <a:r>
              <a:rPr lang="en-CA" sz="2200" dirty="0">
                <a:solidFill>
                  <a:srgbClr val="2C567A"/>
                </a:solidFill>
              </a:rPr>
              <a:t>Target: 18-20% adoption</a:t>
            </a:r>
          </a:p>
          <a:p>
            <a:r>
              <a:rPr lang="en-CA" sz="2200" dirty="0">
                <a:solidFill>
                  <a:srgbClr val="2C567A"/>
                </a:solidFill>
              </a:rPr>
              <a:t>Red Flag: &lt;10% (re-evaluate targeting)</a:t>
            </a:r>
          </a:p>
          <a:p>
            <a:pPr marL="0" indent="0">
              <a:buNone/>
            </a:pPr>
            <a:r>
              <a:rPr lang="en-CA" sz="2200" b="1" dirty="0">
                <a:solidFill>
                  <a:srgbClr val="2C567A"/>
                </a:solidFill>
              </a:rPr>
              <a:t>Metric 2: Average Subscription Revenue per Adopter</a:t>
            </a:r>
          </a:p>
          <a:p>
            <a:r>
              <a:rPr lang="en-CA" sz="2200" dirty="0">
                <a:solidFill>
                  <a:srgbClr val="2C567A"/>
                </a:solidFill>
              </a:rPr>
              <a:t>30-day: ≥$3,000 avg (ramp-up phase)</a:t>
            </a:r>
          </a:p>
          <a:p>
            <a:r>
              <a:rPr lang="en-CA" sz="2200" dirty="0">
                <a:solidFill>
                  <a:srgbClr val="2C567A"/>
                </a:solidFill>
              </a:rPr>
              <a:t>60-day: ≥$7,000 avg (pattern establishment)</a:t>
            </a:r>
          </a:p>
          <a:p>
            <a:r>
              <a:rPr lang="en-CA" sz="2200" dirty="0">
                <a:solidFill>
                  <a:srgbClr val="2C567A"/>
                </a:solidFill>
              </a:rPr>
              <a:t>90-day: ≥$10,000 avg (sustainable revenue)</a:t>
            </a:r>
          </a:p>
          <a:p>
            <a:pPr marL="0" indent="0">
              <a:buNone/>
            </a:pPr>
            <a:r>
              <a:rPr lang="en-CA" sz="2200" b="1" dirty="0">
                <a:solidFill>
                  <a:srgbClr val="2C567A"/>
                </a:solidFill>
              </a:rPr>
              <a:t>Metric 3: Subscription Penetration Rate by Segment</a:t>
            </a:r>
          </a:p>
          <a:p>
            <a:r>
              <a:rPr lang="en-CA" sz="2200" dirty="0">
                <a:solidFill>
                  <a:srgbClr val="2C567A"/>
                </a:solidFill>
              </a:rPr>
              <a:t>Track quarterly growth in subscription adoption within each industry/country/size segment</a:t>
            </a:r>
          </a:p>
          <a:p>
            <a:r>
              <a:rPr lang="en-CA" sz="2200" dirty="0">
                <a:solidFill>
                  <a:srgbClr val="2C567A"/>
                </a:solidFill>
              </a:rPr>
              <a:t>Identify which segments convert fastest for future targeting refinement</a:t>
            </a:r>
          </a:p>
          <a:p>
            <a:endParaRPr lang="en-CA" sz="2200" dirty="0">
              <a:solidFill>
                <a:srgbClr val="2C567A"/>
              </a:solidFill>
            </a:endParaRPr>
          </a:p>
          <a:p>
            <a:pPr marL="0" indent="0">
              <a:buNone/>
            </a:pPr>
            <a:r>
              <a:rPr lang="en-CA" sz="1400" b="1" dirty="0">
                <a:solidFill>
                  <a:srgbClr val="2C567A"/>
                </a:solidFill>
                <a:highlight>
                  <a:srgbClr val="FFFF00"/>
                </a:highlight>
              </a:rPr>
              <a:t>** More info at the end</a:t>
            </a:r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1B371-D03B-34A2-BAB5-6A4FF03069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8E956C-27B5-C9B6-D362-D160CCCD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MEASURING IMPACT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2D3D1910-281A-35E4-C4F8-80C7328CC6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875C1B2-BFA3-9DEF-C2F7-CE507B2FC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4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07477D-95BE-7072-B10B-81777C3E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934B6E-91F0-EB43-2FDD-8F3841EBB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087" y="1402802"/>
            <a:ext cx="11191078" cy="505514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Short-Term (1-4 weeks):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1. Industry-specific messaging &amp; value propositions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2. A/B test outreach methods (email vs sales call vs webinar)</a:t>
            </a:r>
          </a:p>
          <a:p>
            <a:pPr marL="0" indent="0">
              <a:buNone/>
            </a:pPr>
            <a:endParaRPr lang="en-CA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Medium-Term (1-3 months): 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3. Cohort analysis by merchant signup date 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4. Churn risk modeling for existing subscription users 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5. Product usage pattern deep dive (optimal </a:t>
            </a:r>
            <a:r>
              <a:rPr lang="en-CA" dirty="0" err="1">
                <a:solidFill>
                  <a:srgbClr val="2C567A"/>
                </a:solidFill>
              </a:rPr>
              <a:t>Checkout→Subscription</a:t>
            </a:r>
            <a:r>
              <a:rPr lang="en-CA" dirty="0">
                <a:solidFill>
                  <a:srgbClr val="2C567A"/>
                </a:solidFill>
              </a:rPr>
              <a:t> migration timeline)</a:t>
            </a:r>
          </a:p>
          <a:p>
            <a:pPr marL="0" indent="0">
              <a:buNone/>
            </a:pPr>
            <a:endParaRPr lang="en-CA" b="1" dirty="0">
              <a:solidFill>
                <a:srgbClr val="2C567A"/>
              </a:solidFill>
            </a:endParaRP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Long-Term (3-6 months): 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6. Economic value analysis (CLV comparison: subscription vs non-subscription merchants) </a:t>
            </a:r>
          </a:p>
          <a:p>
            <a:pPr marL="0" indent="0">
              <a:buNone/>
            </a:pPr>
            <a:r>
              <a:rPr lang="en-CA" dirty="0">
                <a:solidFill>
                  <a:srgbClr val="2C567A"/>
                </a:solidFill>
              </a:rPr>
              <a:t>7. Attribution modeling post-launch</a:t>
            </a:r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C52BD-9F27-12E9-98E8-4AFF8B55E8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9C0235-5C0F-BFE2-07F1-DCD437EF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FUTURE ENHANCEMENTS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2D26A5D4-F61F-87FC-C5AA-877BE89900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24640B11-75EB-7C8F-2E12-E566EC06C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52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53AC00-565C-A04C-DA01-14A23206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85A344-1341-D896-6667-0B536C1F7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78" y="1371600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Data Assumptions:</a:t>
            </a:r>
          </a:p>
          <a:p>
            <a:r>
              <a:rPr lang="en-CA" dirty="0">
                <a:solidFill>
                  <a:srgbClr val="2C567A"/>
                </a:solidFill>
              </a:rPr>
              <a:t>Products are NOT mutually exclusive (per documentation)</a:t>
            </a:r>
          </a:p>
          <a:p>
            <a:r>
              <a:rPr lang="en-CA" dirty="0">
                <a:solidFill>
                  <a:srgbClr val="2C567A"/>
                </a:solidFill>
              </a:rPr>
              <a:t>Future dates (2041-2042) represent synthetic data</a:t>
            </a:r>
          </a:p>
          <a:p>
            <a:r>
              <a:rPr lang="en-CA" dirty="0">
                <a:solidFill>
                  <a:srgbClr val="2C567A"/>
                </a:solidFill>
              </a:rPr>
              <a:t>13-month observation window may not capture full annual patterns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Methodology Assumptions:</a:t>
            </a:r>
          </a:p>
          <a:p>
            <a:r>
              <a:rPr lang="en-CA" dirty="0">
                <a:solidFill>
                  <a:srgbClr val="2C567A"/>
                </a:solidFill>
              </a:rPr>
              <a:t>Recurring behavior (≤10 days) indicates subscription need</a:t>
            </a:r>
          </a:p>
          <a:p>
            <a:r>
              <a:rPr lang="en-CA" dirty="0">
                <a:solidFill>
                  <a:srgbClr val="2C567A"/>
                </a:solidFill>
              </a:rPr>
              <a:t>20% conversion rate based on B2B SaaS industry benchmarks</a:t>
            </a:r>
          </a:p>
          <a:p>
            <a:r>
              <a:rPr lang="en-CA" dirty="0">
                <a:solidFill>
                  <a:srgbClr val="2C567A"/>
                </a:solidFill>
              </a:rPr>
              <a:t>Subscription winners' profiles remain stable over time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Limitations:</a:t>
            </a:r>
          </a:p>
          <a:p>
            <a:r>
              <a:rPr lang="en-CA" dirty="0">
                <a:solidFill>
                  <a:srgbClr val="2C567A"/>
                </a:solidFill>
              </a:rPr>
              <a:t>Cannot measure "natural" adoption (merchants who would convert without outreach)</a:t>
            </a:r>
          </a:p>
          <a:p>
            <a:r>
              <a:rPr lang="en-CA" dirty="0">
                <a:solidFill>
                  <a:srgbClr val="2C567A"/>
                </a:solidFill>
              </a:rPr>
              <a:t>No historical churn data to refine targeting</a:t>
            </a:r>
          </a:p>
          <a:p>
            <a:r>
              <a:rPr lang="en-CA" dirty="0">
                <a:solidFill>
                  <a:srgbClr val="2C567A"/>
                </a:solidFill>
              </a:rPr>
              <a:t>No qualitative merchant feedback on subscription barriers</a:t>
            </a:r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C2D63-A82D-002B-B766-540DAD62FC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D469CD-0430-4BD7-7617-B360A529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What We're Working With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9A05E5DF-26BA-770B-393D-EC4FE95AF9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9A7CD95-7848-50AD-B8EC-B64C11C7E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D21384-FA1C-2E11-009A-E43CBDEB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2E892-3197-B0B9-0D04-F3CB5B21A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What we Did:</a:t>
            </a:r>
          </a:p>
          <a:p>
            <a:r>
              <a:rPr lang="en-CA" dirty="0"/>
              <a:t>✅ </a:t>
            </a:r>
            <a:r>
              <a:rPr lang="en-CA" dirty="0">
                <a:solidFill>
                  <a:srgbClr val="2C567A"/>
                </a:solidFill>
              </a:rPr>
              <a:t>Cleaned and validated data (23,422 merchants, 1.57M payment records)</a:t>
            </a:r>
          </a:p>
          <a:p>
            <a:r>
              <a:rPr lang="en-CA" dirty="0">
                <a:solidFill>
                  <a:srgbClr val="2C567A"/>
                </a:solidFill>
              </a:rPr>
              <a:t>✅ Analyzed subscription winners to understand success patterns</a:t>
            </a:r>
          </a:p>
          <a:p>
            <a:r>
              <a:rPr lang="en-CA" dirty="0">
                <a:solidFill>
                  <a:srgbClr val="2C567A"/>
                </a:solidFill>
              </a:rPr>
              <a:t>✅ Identified 7,819 subscription-ready merchants with recurring behavior</a:t>
            </a:r>
          </a:p>
          <a:p>
            <a:r>
              <a:rPr lang="en-CA" dirty="0">
                <a:solidFill>
                  <a:srgbClr val="2C567A"/>
                </a:solidFill>
              </a:rPr>
              <a:t>✅ Built data-driven 5-dimensional scoring system</a:t>
            </a:r>
          </a:p>
          <a:p>
            <a:r>
              <a:rPr lang="en-CA" dirty="0">
                <a:solidFill>
                  <a:srgbClr val="2C567A"/>
                </a:solidFill>
              </a:rPr>
              <a:t>✅ Prioritized 860 perfect targets, focused on US small businesses</a:t>
            </a:r>
          </a:p>
          <a:p>
            <a:r>
              <a:rPr lang="en-CA" dirty="0">
                <a:solidFill>
                  <a:srgbClr val="2C567A"/>
                </a:solidFill>
              </a:rPr>
              <a:t>✅ Validated targets mirror existing subscription winners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The Opportunity:</a:t>
            </a:r>
          </a:p>
          <a:p>
            <a:r>
              <a:rPr lang="en-CA" dirty="0">
                <a:solidFill>
                  <a:srgbClr val="2C567A"/>
                </a:solidFill>
              </a:rPr>
              <a:t>72 perfect targets in Phase 1 (US Software + Business Services)</a:t>
            </a:r>
          </a:p>
          <a:p>
            <a:r>
              <a:rPr lang="en-CA" dirty="0">
                <a:solidFill>
                  <a:srgbClr val="2C567A"/>
                </a:solidFill>
              </a:rPr>
              <a:t>$2.5M+ annual run rate potential from pilot alone</a:t>
            </a:r>
          </a:p>
          <a:p>
            <a:r>
              <a:rPr lang="en-CA" dirty="0">
                <a:solidFill>
                  <a:srgbClr val="2C567A"/>
                </a:solidFill>
              </a:rPr>
              <a:t>Clear segmentation and metrics for scale</a:t>
            </a:r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4BF00-A029-B0E7-3418-3FAB795BBF0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144547-BB71-63F6-1916-F1D67203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9486018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Strategic Targeting Drives Adoption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67DB6AAD-1219-2950-746C-62C02B55EE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0CC0E2BB-529D-519C-0DA1-8C14596B9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71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30E38-4959-E2E5-F60F-31052F68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26CD-D5E4-B37D-1AB3-AE1CBC2E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2173288"/>
            <a:ext cx="5143500" cy="2090808"/>
          </a:xfrm>
        </p:spPr>
        <p:txBody>
          <a:bodyPr anchor="b">
            <a:normAutofit fontScale="90000"/>
          </a:bodyPr>
          <a:lstStyle/>
          <a:p>
            <a:br>
              <a:rPr lang="en-IN" sz="2600" dirty="0"/>
            </a:br>
            <a:r>
              <a:rPr lang="en-IN" sz="2600" dirty="0"/>
              <a:t> </a:t>
            </a:r>
            <a:br>
              <a:rPr lang="en-IN" sz="2600" dirty="0"/>
            </a:br>
            <a:r>
              <a:rPr lang="en-CA" sz="4400" dirty="0"/>
              <a:t>QUESTIONS?</a:t>
            </a:r>
            <a:br>
              <a:rPr lang="en-CA" sz="2800" dirty="0"/>
            </a:br>
            <a:br>
              <a:rPr lang="en-IN" sz="2600" dirty="0"/>
            </a:b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650F7-D401-84ED-B442-6084622B0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12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75765012-A145-D663-2407-C2B3899CB79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875" r="21876" b="1"/>
          <a:stretch>
            <a:fillRect/>
          </a:stretch>
        </p:blipFill>
        <p:spPr>
          <a:xfrm>
            <a:off x="710812" y="728545"/>
            <a:ext cx="5305661" cy="5305661"/>
          </a:xfrm>
          <a:noFill/>
        </p:spPr>
      </p:pic>
    </p:spTree>
    <p:extLst>
      <p:ext uri="{BB962C8B-B14F-4D97-AF65-F5344CB8AC3E}">
        <p14:creationId xmlns:p14="http://schemas.microsoft.com/office/powerpoint/2010/main" val="631520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2B72-2229-21A6-B54B-251A5D27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ABEB-B4FB-D807-A69B-06DAB8701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2173288"/>
            <a:ext cx="5143500" cy="2090808"/>
          </a:xfrm>
        </p:spPr>
        <p:txBody>
          <a:bodyPr anchor="b">
            <a:normAutofit/>
          </a:bodyPr>
          <a:lstStyle/>
          <a:p>
            <a:br>
              <a:rPr lang="en-IN" sz="2600" dirty="0"/>
            </a:br>
            <a:r>
              <a:rPr lang="en-IN" sz="2600" dirty="0"/>
              <a:t> </a:t>
            </a:r>
            <a:br>
              <a:rPr lang="en-IN" sz="2600" dirty="0"/>
            </a:br>
            <a:r>
              <a:rPr lang="en-CA" sz="4400" dirty="0"/>
              <a:t>thank you!</a:t>
            </a:r>
            <a:br>
              <a:rPr lang="en-IN" sz="2600" dirty="0"/>
            </a:b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4E68E-8517-1A69-CFE2-D69EDA4E3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rmAutofit/>
          </a:bodyPr>
          <a:lstStyle/>
          <a:p>
            <a:r>
              <a:rPr lang="en-IN" dirty="0"/>
              <a:t>Kushraj Bhatia</a:t>
            </a:r>
          </a:p>
        </p:txBody>
      </p:sp>
      <p:pic>
        <p:nvPicPr>
          <p:cNvPr id="12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2B2B0B52-2CB5-3C8A-50FC-2B20B0947C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875" r="21876" b="1"/>
          <a:stretch>
            <a:fillRect/>
          </a:stretch>
        </p:blipFill>
        <p:spPr>
          <a:xfrm>
            <a:off x="710812" y="728545"/>
            <a:ext cx="5305661" cy="5305661"/>
          </a:xfrm>
          <a:noFill/>
        </p:spPr>
      </p:pic>
    </p:spTree>
    <p:extLst>
      <p:ext uri="{BB962C8B-B14F-4D97-AF65-F5344CB8AC3E}">
        <p14:creationId xmlns:p14="http://schemas.microsoft.com/office/powerpoint/2010/main" val="1818668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8A289-0B5C-593C-0788-B41E771BC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1310F7-5F53-8D73-C97B-040875A50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78" y="1371600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Data Cleaning: Merchants 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39449-2A8D-5441-4FBD-6BC8D33078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84BE46-9E0E-E084-F40F-E30F134F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APPENDIX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21AC1868-8427-3E24-AAFC-F1445388CB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9BF4E39-09F5-09DC-3722-F0C710F1C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56E886-8748-04AE-9F9C-EBFA1F9EC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45" y="1687259"/>
            <a:ext cx="9106866" cy="50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08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5593E7-C243-8CD5-6E40-01C48F04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532D6D-DDB2-51DE-5D74-FB5E686B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78" y="1371600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Data Cleaning: Merchants 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EDA32-EECB-D465-DBA0-79F74619DA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DA5DE4-887A-7647-2031-E29EAF66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APPENDIX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AA2DD2F9-1451-27CC-E1AD-E261D226F8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9E5CBCA-18E8-C2C4-49D9-986740C8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7707F6-E895-C03F-5603-EC89228ED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44" y="1687258"/>
            <a:ext cx="9580999" cy="516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9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0A907C-DBA7-E8FD-53F4-3619A8E2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E48354-55E8-EC47-A5C1-DC4E0D6B1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78" y="1371600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Data Cleaning: Payments 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224CB-8AB3-1096-8126-734790BC8B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27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7E8427-A45B-D137-A7B7-C06D0095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APPENDIX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FE26F3C8-8D67-EB4B-8069-3004649DFF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AD6C8420-0D60-D192-814D-EF82B633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CEA38F-EA7D-C102-DBF8-9B9B03A36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43" y="1687257"/>
            <a:ext cx="9479401" cy="516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14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2DD8FA-4F30-6AE4-7075-A0FD973E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6C5E9-6C6B-E311-4772-D10D096FD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078" y="1371600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Data Cleaning: Payments 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5F7AED-8588-B02C-819C-241C5B5E2E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28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EA3505-C94B-3674-EA20-129A71B1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6577805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APPENDIX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37E6A5B3-2260-63CB-7C04-00400441BA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5EA1C1B-B9B5-484C-9979-E2CE8F287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240DDF-27B6-0A9B-99FF-BDD2A5EE1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43" y="1687258"/>
            <a:ext cx="9456823" cy="51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28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ECA9A7-6AB3-7C00-2351-8F165858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DC9A0A-723E-5EC1-DC2A-470F4DEAA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Metric 1: Subscription Adoption Rate:</a:t>
            </a:r>
          </a:p>
          <a:p>
            <a:pPr marL="0" indent="0">
              <a:buNone/>
            </a:pPr>
            <a:r>
              <a:rPr lang="en-CA" sz="2000" dirty="0">
                <a:solidFill>
                  <a:srgbClr val="2C567A"/>
                </a:solidFill>
              </a:rPr>
              <a:t>Subscription Adoption Rate = (# of targeted merchants who activate subscriptions within 90 days) / (# of merchants targeted)  (Primary success metric)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Directly measures campaign effectiveness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Aligns with business objective: "get more existing Stripe users to START using Subscriptions" 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Time-bound (90 days) ensures accountability</a:t>
            </a:r>
          </a:p>
          <a:p>
            <a:pPr>
              <a:buFontTx/>
              <a:buChar char="-"/>
            </a:pPr>
            <a:r>
              <a:rPr lang="en-CA" b="1" dirty="0">
                <a:solidFill>
                  <a:srgbClr val="2C567A"/>
                </a:solidFill>
              </a:rPr>
              <a:t>Tracking: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Cohort-based: Tag each merchant when targeted (email sent, sales call made)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Monitor `</a:t>
            </a:r>
            <a:r>
              <a:rPr lang="en-CA" sz="1800" dirty="0" err="1">
                <a:solidFill>
                  <a:srgbClr val="2C567A"/>
                </a:solidFill>
              </a:rPr>
              <a:t>subscription_volume</a:t>
            </a:r>
            <a:r>
              <a:rPr lang="en-CA" sz="1800" dirty="0">
                <a:solidFill>
                  <a:srgbClr val="2C567A"/>
                </a:solidFill>
              </a:rPr>
              <a:t> &gt; 0` for first time within 90-day window 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Segment by: industry, country, target tier, outreach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471A11-B044-5CFA-9661-0686F7FFB8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29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D6652E-6B65-A00F-2908-334D0AB9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9486018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METRICS PROPOSAL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3FCD9D6C-9BD2-DF8D-4043-C3EB1CF408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F8D8F25-DE28-6EA4-B1A6-F9C628045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28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C4C651-CD6F-0DE7-2B77-8CD0CFD4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FA0D84-4C55-D960-0747-53FA384BF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Metric 2: Average Subscription Per Adopter:</a:t>
            </a:r>
          </a:p>
          <a:p>
            <a:pPr marL="0" indent="0">
              <a:buNone/>
            </a:pPr>
            <a:r>
              <a:rPr lang="en-CA" sz="2000" dirty="0">
                <a:solidFill>
                  <a:srgbClr val="2C567A"/>
                </a:solidFill>
              </a:rPr>
              <a:t>Avg Subscription Revenue= (Total </a:t>
            </a:r>
            <a:r>
              <a:rPr lang="en-CA" sz="2000" dirty="0" err="1">
                <a:solidFill>
                  <a:srgbClr val="2C567A"/>
                </a:solidFill>
              </a:rPr>
              <a:t>subscription_volume</a:t>
            </a:r>
            <a:r>
              <a:rPr lang="en-CA" sz="2000" dirty="0">
                <a:solidFill>
                  <a:srgbClr val="2C567A"/>
                </a:solidFill>
              </a:rPr>
              <a:t> from new adopter) / (# of new adopters)/100 (convert to dollars)  (Quality Metric)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Ensures we are not getting “tire-kickers”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Validates targeting criteria (are high-score merchants actually high-value?)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Early indicator of long-term subscription health</a:t>
            </a:r>
          </a:p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Tracking: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For each new adopter, sum `</a:t>
            </a:r>
            <a:r>
              <a:rPr lang="en-CA" sz="1800" dirty="0" err="1">
                <a:solidFill>
                  <a:srgbClr val="2C567A"/>
                </a:solidFill>
              </a:rPr>
              <a:t>subscription_volume</a:t>
            </a:r>
            <a:r>
              <a:rPr lang="en-CA" sz="1800" dirty="0">
                <a:solidFill>
                  <a:srgbClr val="2C567A"/>
                </a:solidFill>
              </a:rPr>
              <a:t>` for:</a:t>
            </a:r>
          </a:p>
          <a:p>
            <a:pPr lvl="2"/>
            <a:r>
              <a:rPr lang="en-CA" sz="1600" dirty="0">
                <a:solidFill>
                  <a:srgbClr val="2C567A"/>
                </a:solidFill>
              </a:rPr>
              <a:t>Days 1-30 post-first subscription transaction</a:t>
            </a:r>
          </a:p>
          <a:p>
            <a:pPr lvl="2"/>
            <a:r>
              <a:rPr lang="en-CA" sz="1600" dirty="0">
                <a:solidFill>
                  <a:srgbClr val="2C567A"/>
                </a:solidFill>
              </a:rPr>
              <a:t>Days 1-60 post-first subscription transaction</a:t>
            </a:r>
          </a:p>
          <a:p>
            <a:pPr lvl="2"/>
            <a:r>
              <a:rPr lang="en-CA" sz="1600" dirty="0">
                <a:solidFill>
                  <a:srgbClr val="2C567A"/>
                </a:solidFill>
              </a:rPr>
              <a:t>Days 1-90 post-first subscription transaction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Compare to subscription winner benchmarks ($10K-24K/month)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41EB0-7156-3761-768F-F5F1C56A7D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30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621CCE-4407-0B03-1AAC-A2E5B7D5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9486018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METRICS PROPOSAL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06A0D55D-A1FC-9CFF-BB5B-398BD97C8DE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49101B07-6D71-37B3-4C3B-E2C78F8FB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45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06BE9B-D579-4932-1A69-2E3985F5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CFD0ED-1FEC-FF9F-CA1A-DBC77DB56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11191078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>
                <a:solidFill>
                  <a:srgbClr val="2C567A"/>
                </a:solidFill>
              </a:rPr>
              <a:t>Metric 3: Subscription Penetration Rate:</a:t>
            </a:r>
          </a:p>
          <a:p>
            <a:pPr marL="0" indent="0">
              <a:buNone/>
            </a:pPr>
            <a:r>
              <a:rPr lang="en-CA" sz="2000" dirty="0">
                <a:solidFill>
                  <a:srgbClr val="2C567A"/>
                </a:solidFill>
              </a:rPr>
              <a:t>Subscription Penetration Rate = (# of merchants using subscriptions in segment) / (Total # of merchants in segment)  (Market Share Metric)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Tracks progress toward saturating addressable market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Aligns Identifies which segments are approaching saturation vs. have headroom 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Informs future campaign prioritization (double down on low-penetration, high-value segments) </a:t>
            </a:r>
          </a:p>
          <a:p>
            <a:pPr lvl="1"/>
            <a:endParaRPr lang="en-CA" sz="1800" b="1" dirty="0">
              <a:solidFill>
                <a:srgbClr val="2C567A"/>
              </a:solidFill>
            </a:endParaRPr>
          </a:p>
          <a:p>
            <a:pPr marL="457200" lvl="1" indent="0">
              <a:buNone/>
            </a:pPr>
            <a:r>
              <a:rPr lang="en-CA" b="1" dirty="0">
                <a:solidFill>
                  <a:srgbClr val="2C567A"/>
                </a:solidFill>
              </a:rPr>
              <a:t>Tracking: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Quarterly Snapshot: Calculate for each segment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Monitor Is penetration increasing over time?</a:t>
            </a:r>
          </a:p>
          <a:p>
            <a:pPr lvl="1"/>
            <a:r>
              <a:rPr lang="en-CA" sz="1800" dirty="0">
                <a:solidFill>
                  <a:srgbClr val="2C567A"/>
                </a:solidFill>
              </a:rPr>
              <a:t>Compare to benchmark</a:t>
            </a:r>
          </a:p>
          <a:p>
            <a:pPr lvl="2"/>
            <a:r>
              <a:rPr lang="en-CA" sz="1600" dirty="0">
                <a:solidFill>
                  <a:srgbClr val="2C567A"/>
                </a:solidFill>
              </a:rPr>
              <a:t>Software: Currently 43% (mature)</a:t>
            </a:r>
            <a:r>
              <a:rPr lang="en-CA" sz="1600" dirty="0">
                <a:solidFill>
                  <a:srgbClr val="2C567A"/>
                </a:solidFill>
                <a:sym typeface="Wingdings" pitchFamily="2" charset="2"/>
              </a:rPr>
              <a:t>Target 55%</a:t>
            </a:r>
          </a:p>
          <a:p>
            <a:pPr lvl="2"/>
            <a:r>
              <a:rPr lang="en-CA" sz="1600" dirty="0">
                <a:solidFill>
                  <a:srgbClr val="2C567A"/>
                </a:solidFill>
                <a:sym typeface="Wingdings" pitchFamily="2" charset="2"/>
              </a:rPr>
              <a:t>Education: Currently 21% (low)Target 35%</a:t>
            </a:r>
          </a:p>
          <a:p>
            <a:pPr lvl="2"/>
            <a:r>
              <a:rPr lang="en-CA" sz="1600" dirty="0">
                <a:solidFill>
                  <a:srgbClr val="2C567A"/>
                </a:solidFill>
                <a:sym typeface="Wingdings" pitchFamily="2" charset="2"/>
              </a:rPr>
              <a:t>Business Services: Currently(28%)Target 40%</a:t>
            </a:r>
            <a:endParaRPr lang="en-CA" sz="1600" dirty="0">
              <a:solidFill>
                <a:srgbClr val="2C567A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08ACED-7D9D-DEDA-0904-04170E5997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3696" y="6457950"/>
            <a:ext cx="294460" cy="185156"/>
          </a:xfrm>
        </p:spPr>
        <p:txBody>
          <a:bodyPr/>
          <a:lstStyle/>
          <a:p>
            <a:fld id="{9EC71654-96A5-4280-94F3-931C61A9F92C}" type="slidenum">
              <a:rPr lang="en-IN" smtClean="0"/>
              <a:pPr/>
              <a:t>31</a:t>
            </a:fld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6893DC-13DA-186E-0273-9266F18E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9486018" cy="872005"/>
          </a:xfrm>
          <a:ln>
            <a:noFill/>
          </a:ln>
        </p:spPr>
        <p:txBody>
          <a:bodyPr/>
          <a:lstStyle/>
          <a:p>
            <a:r>
              <a:rPr lang="en-CA" dirty="0">
                <a:solidFill>
                  <a:srgbClr val="2C567A"/>
                </a:solidFill>
              </a:rPr>
              <a:t>METRICS PROPOSAL</a:t>
            </a:r>
          </a:p>
        </p:txBody>
      </p:sp>
      <p:pic>
        <p:nvPicPr>
          <p:cNvPr id="10" name="Picture Placeholder 9" descr="A blue and black logo&#10;&#10;Description automatically generated">
            <a:extLst>
              <a:ext uri="{FF2B5EF4-FFF2-40B4-BE49-F238E27FC236}">
                <a16:creationId xmlns:a16="http://schemas.microsoft.com/office/drawing/2014/main" id="{986DFA1D-FD23-3941-A738-4C55F873B7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694" r="9694"/>
          <a:stretch>
            <a:fillRect/>
          </a:stretch>
        </p:blipFill>
        <p:spPr>
          <a:xfrm>
            <a:off x="10678332" y="0"/>
            <a:ext cx="1513669" cy="1387201"/>
          </a:xfrm>
        </p:spPr>
      </p:pic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41049B03-1E16-1AAE-30C6-367434E4D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98" y="-15601"/>
            <a:ext cx="2466135" cy="13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03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toso BG Presentation Template - v4" id="{D2E7B854-57A4-4C49-92B6-079BF15553DA}" vid="{DDFBD5F9-7DC6-43CD-820E-691F3CC0D9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19797F-2510-4681-A59B-FCD8F3733FE0}">
  <ds:schemaRefs>
    <ds:schemaRef ds:uri="http://schemas.openxmlformats.org/package/2006/metadata/core-properties"/>
    <ds:schemaRef ds:uri="16c05727-aa75-4e4a-9b5f-8a80a1165891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2035</Words>
  <Application>Microsoft Macintosh PowerPoint</Application>
  <PresentationFormat>Widescreen</PresentationFormat>
  <Paragraphs>319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Corbel</vt:lpstr>
      <vt:lpstr>Wingdings</vt:lpstr>
      <vt:lpstr>Office Theme</vt:lpstr>
      <vt:lpstr>   Subscription Product Adoption: Strategic Merchant Targeting </vt:lpstr>
      <vt:lpstr>AGENDA</vt:lpstr>
      <vt:lpstr>THE CHALLENGE</vt:lpstr>
      <vt:lpstr>THREE-STAGE FRAMEWORK</vt:lpstr>
      <vt:lpstr>DATA CLEANING &amp; VALIDATION</vt:lpstr>
      <vt:lpstr>PRODUCT VOLUME OVERLAP-KEY ASSUMPTION!</vt:lpstr>
      <vt:lpstr>Who Succeeds with Subscriptions Today?</vt:lpstr>
      <vt:lpstr>The Migration Path: Checkout → Subscription</vt:lpstr>
      <vt:lpstr>Subscription Becomes Essential</vt:lpstr>
      <vt:lpstr>Timing the Outreach</vt:lpstr>
      <vt:lpstr>Transaction Frequency Predicts Success</vt:lpstr>
      <vt:lpstr>Target Criteria for Non-Subscribers</vt:lpstr>
      <vt:lpstr>Data-Driven Threshold Selection</vt:lpstr>
      <vt:lpstr>FIVE-DIMENSIONAL SCORING FRAMEWORK</vt:lpstr>
      <vt:lpstr>Target Universe Breakdown</vt:lpstr>
      <vt:lpstr>Where to Focus: Industry × Country × Size</vt:lpstr>
      <vt:lpstr>Do Our Targets Look Like Subscription Winners?</vt:lpstr>
      <vt:lpstr>Phased Rollout Strategy</vt:lpstr>
      <vt:lpstr>MEASURING IMPACT</vt:lpstr>
      <vt:lpstr>FUTURE ENHANCEMENTS</vt:lpstr>
      <vt:lpstr>What We're Working With</vt:lpstr>
      <vt:lpstr>Strategic Targeting Drives Adoption</vt:lpstr>
      <vt:lpstr>   QUESTIONS?  </vt:lpstr>
      <vt:lpstr>   thank you! </vt:lpstr>
      <vt:lpstr>APPENDIX</vt:lpstr>
      <vt:lpstr>APPENDIX</vt:lpstr>
      <vt:lpstr>APPENDIX</vt:lpstr>
      <vt:lpstr>APPENDIX</vt:lpstr>
      <vt:lpstr>METRICS PROPOSAL</vt:lpstr>
      <vt:lpstr>METRICS PROPOSAL</vt:lpstr>
      <vt:lpstr>METRICS PROPOSAL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2019-11-19T20:54:30Z</dcterms:created>
  <dcterms:modified xsi:type="dcterms:W3CDTF">2026-02-02T04:48:20Z</dcterms:modified>
</cp:coreProperties>
</file>